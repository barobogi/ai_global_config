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0287000" cy="1828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_1"/>
          <p:cNvSpPr txBox="1"/>
          <p:nvPr/>
        </p:nvSpPr>
        <p:spPr>
          <a:xfrm>
            <a:off x="571500" y="6858000"/>
            <a:ext cx="9144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0" b="1">
                <a:solidFill>
                  <a:srgbClr val="00F0FF"/>
                </a:solidFill>
                <a:latin typeface="Malgun Gothic"/>
              </a:rPr>
              <a:t>🎯 CRISP-DM?
</a:t>
            </a:r>
            <a:r>
              <a:rPr sz="5600" b="1">
                <a:solidFill>
                  <a:srgbClr val="FFFFFF"/>
                </a:solidFill>
                <a:latin typeface="Malgun Gothic"/>
              </a:rPr>
              <a:t>데이터분석의 표준 6단계!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ody_2"/>
          <p:cNvSpPr txBox="1"/>
          <p:nvPr/>
        </p:nvSpPr>
        <p:spPr>
          <a:xfrm>
            <a:off x="1143000" y="5715000"/>
            <a:ext cx="8001000" cy="68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 b="0">
                <a:solidFill>
                  <a:srgbClr val="FFFFFF"/>
                </a:solidFill>
                <a:latin typeface="Malgun Gothic"/>
              </a:rPr>
              <a:t>데이터를 분석하려면?
막 시작하면 안 된다.
정해진 순서가 있어.
</a:t>
            </a:r>
            <a:r>
              <a:rPr sz="6200" b="1">
                <a:solidFill>
                  <a:srgbClr val="00F0FF"/>
                </a:solidFill>
                <a:latin typeface="Malgun Gothic"/>
              </a:rPr>
              <a:t>그게 바로 CRISP-DM!
</a:t>
            </a:r>
            <a:r>
              <a:rPr sz="5000" b="0">
                <a:solidFill>
                  <a:srgbClr val="FFFFFF"/>
                </a:solidFill>
                <a:latin typeface="Malgun Gothic"/>
              </a:rPr>
              <a:t>업계 표준 방법론이야.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ody_3"/>
          <p:cNvSpPr txBox="1"/>
          <p:nvPr/>
        </p:nvSpPr>
        <p:spPr>
          <a:xfrm>
            <a:off x="571500" y="1714500"/>
            <a:ext cx="9144000" cy="1485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0" b="1">
                <a:solidFill>
                  <a:srgbClr val="00F0FF"/>
                </a:solidFill>
                <a:latin typeface="Malgun Gothic"/>
              </a:rPr>
              <a:t>CRISP-DM 6단계
</a:t>
            </a:r>
          </a:p>
          <a:p>
            <a:r>
              <a:rPr sz="4000" b="1">
                <a:solidFill>
                  <a:srgbClr val="00F0FF"/>
                </a:solidFill>
                <a:latin typeface="Malgun Gothic"/>
              </a:rPr>
              <a:t>Step 1 </a:t>
            </a:r>
            <a:r>
              <a:rPr sz="4000" b="1">
                <a:solidFill>
                  <a:srgbClr val="FFFFFF"/>
                </a:solidFill>
                <a:latin typeface="Malgun Gothic"/>
              </a:rPr>
              <a:t>Business Understanding</a:t>
            </a:r>
          </a:p>
          <a:p>
            <a:r>
              <a:rPr sz="3500" b="0">
                <a:solidFill>
                  <a:srgbClr val="39FF14"/>
                </a:solidFill>
                <a:latin typeface="Malgun Gothic"/>
              </a:rPr>
              <a:t>  → 비즈니스 목표 정의</a:t>
            </a:r>
          </a:p>
          <a:p>
            <a:r>
              <a:rPr sz="4000" b="1">
                <a:solidFill>
                  <a:srgbClr val="00F0FF"/>
                </a:solidFill>
                <a:latin typeface="Malgun Gothic"/>
              </a:rPr>
              <a:t>Step 2 </a:t>
            </a:r>
            <a:r>
              <a:rPr sz="4000" b="1">
                <a:solidFill>
                  <a:srgbClr val="FFFFFF"/>
                </a:solidFill>
                <a:latin typeface="Malgun Gothic"/>
              </a:rPr>
              <a:t>Data Understanding</a:t>
            </a:r>
          </a:p>
          <a:p>
            <a:r>
              <a:rPr sz="3500" b="0">
                <a:solidFill>
                  <a:srgbClr val="39FF14"/>
                </a:solidFill>
                <a:latin typeface="Malgun Gothic"/>
              </a:rPr>
              <a:t>  → 데이터 수집 및 탐색</a:t>
            </a:r>
          </a:p>
          <a:p>
            <a:r>
              <a:rPr sz="4000" b="1">
                <a:solidFill>
                  <a:srgbClr val="00F0FF"/>
                </a:solidFill>
                <a:latin typeface="Malgun Gothic"/>
              </a:rPr>
              <a:t>Step 3 </a:t>
            </a:r>
            <a:r>
              <a:rPr sz="4000" b="1">
                <a:solidFill>
                  <a:srgbClr val="FFFFFF"/>
                </a:solidFill>
                <a:latin typeface="Malgun Gothic"/>
              </a:rPr>
              <a:t>Data Preparation</a:t>
            </a:r>
          </a:p>
          <a:p>
            <a:r>
              <a:rPr sz="3500" b="0">
                <a:solidFill>
                  <a:srgbClr val="39FF14"/>
                </a:solidFill>
                <a:latin typeface="Malgun Gothic"/>
              </a:rPr>
              <a:t>  → 데이터 정제 및 전처리</a:t>
            </a:r>
          </a:p>
          <a:p>
            <a:r>
              <a:rPr sz="4000" b="1">
                <a:solidFill>
                  <a:srgbClr val="00F0FF"/>
                </a:solidFill>
                <a:latin typeface="Malgun Gothic"/>
              </a:rPr>
              <a:t>Step 4 </a:t>
            </a:r>
            <a:r>
              <a:rPr sz="4000" b="1">
                <a:solidFill>
                  <a:srgbClr val="FFFFFF"/>
                </a:solidFill>
                <a:latin typeface="Malgun Gothic"/>
              </a:rPr>
              <a:t>Modeling</a:t>
            </a:r>
          </a:p>
          <a:p>
            <a:r>
              <a:rPr sz="3500" b="0">
                <a:solidFill>
                  <a:srgbClr val="39FF14"/>
                </a:solidFill>
                <a:latin typeface="Malgun Gothic"/>
              </a:rPr>
              <a:t>  → 알고리즘 학습 및 튜닝</a:t>
            </a:r>
          </a:p>
          <a:p>
            <a:r>
              <a:rPr sz="4000" b="1">
                <a:solidFill>
                  <a:srgbClr val="00F0FF"/>
                </a:solidFill>
                <a:latin typeface="Malgun Gothic"/>
              </a:rPr>
              <a:t>Step 5 </a:t>
            </a:r>
            <a:r>
              <a:rPr sz="4000" b="1">
                <a:solidFill>
                  <a:srgbClr val="FFFFFF"/>
                </a:solidFill>
                <a:latin typeface="Malgun Gothic"/>
              </a:rPr>
              <a:t>Evaluation</a:t>
            </a:r>
          </a:p>
          <a:p>
            <a:r>
              <a:rPr sz="3500" b="0">
                <a:solidFill>
                  <a:srgbClr val="39FF14"/>
                </a:solidFill>
                <a:latin typeface="Malgun Gothic"/>
              </a:rPr>
              <a:t>  → 성능 검증</a:t>
            </a:r>
          </a:p>
          <a:p>
            <a:r>
              <a:rPr sz="4000" b="1">
                <a:solidFill>
                  <a:srgbClr val="00F0FF"/>
                </a:solidFill>
                <a:latin typeface="Malgun Gothic"/>
              </a:rPr>
              <a:t>Step 6 </a:t>
            </a:r>
            <a:r>
              <a:rPr sz="4000" b="1">
                <a:solidFill>
                  <a:srgbClr val="FFFFFF"/>
                </a:solidFill>
                <a:latin typeface="Malgun Gothic"/>
              </a:rPr>
              <a:t>Deployment</a:t>
            </a:r>
          </a:p>
          <a:p>
            <a:r>
              <a:rPr sz="3500" b="0">
                <a:solidFill>
                  <a:srgbClr val="39FF14"/>
                </a:solidFill>
                <a:latin typeface="Malgun Gothic"/>
              </a:rPr>
              <a:t>  → 운영 환경 적용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ody_4"/>
          <p:cNvSpPr txBox="1"/>
          <p:nvPr/>
        </p:nvSpPr>
        <p:spPr>
          <a:xfrm>
            <a:off x="571500" y="5715000"/>
            <a:ext cx="9144000" cy="68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>
                <a:solidFill>
                  <a:srgbClr val="00F0FF"/>
                </a:solidFill>
                <a:latin typeface="Malgun Gothic"/>
              </a:rPr>
              <a:t>우리 3AI는?
이 6단계를 완벽하게 적용 중!
</a:t>
            </a:r>
          </a:p>
          <a:p>
            <a:pPr algn="ctr"/>
            <a:r>
              <a:rPr sz="4400" b="0">
                <a:solidFill>
                  <a:srgbClr val="FFFFFF"/>
                </a:solidFill>
                <a:latin typeface="Malgun Gothic"/>
              </a:rPr>
              <a:t>n8n 워크플로우 설계 = CRISP-DM 그 자체
</a:t>
            </a:r>
          </a:p>
          <a:p>
            <a:pPr algn="ctr"/>
            <a:r>
              <a:rPr sz="4400" b="0">
                <a:solidFill>
                  <a:srgbClr val="FFFFFF"/>
                </a:solidFill>
                <a:latin typeface="Malgun Gothic"/>
              </a:rPr>
              <a:t>Improve_stock 주식 분석 = EDA 교과서 흐름
</a:t>
            </a:r>
          </a:p>
          <a:p>
            <a:pPr algn="ctr"/>
            <a:r>
              <a:rPr sz="4000" b="1">
                <a:solidFill>
                  <a:srgbClr val="39FF14"/>
                </a:solidFill>
                <a:latin typeface="Malgun Gothic"/>
              </a:rPr>
              <a:t>수집 → 전처리 → 모델 → 신호생성 → 배포
</a:t>
            </a:r>
            <a:r>
              <a:rPr sz="5000" b="1">
                <a:solidFill>
                  <a:srgbClr val="00F0FF"/>
                </a:solidFill>
                <a:latin typeface="Malgun Gothic"/>
              </a:rPr>
              <a:t>= CRISP-DM 완벽 실행!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_5"/>
          <p:cNvSpPr txBox="1"/>
          <p:nvPr/>
        </p:nvSpPr>
        <p:spPr>
          <a:xfrm>
            <a:off x="1143000" y="6858000"/>
            <a:ext cx="8001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200" b="1">
                <a:solidFill>
                  <a:srgbClr val="FFFFFF"/>
                </a:solidFill>
                <a:latin typeface="Malgun Gothic"/>
              </a:rPr>
              <a:t>CRISP-DM은?
무조건 알아야 할
데이터 분석 기초!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